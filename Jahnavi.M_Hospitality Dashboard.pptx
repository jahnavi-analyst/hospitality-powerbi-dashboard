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5"/>
  </p:notesMasterIdLst>
  <p:sldIdLst>
    <p:sldId id="256" r:id="rId3"/>
    <p:sldId id="571" r:id="rId4"/>
    <p:sldId id="572" r:id="rId5"/>
    <p:sldId id="573" r:id="rId6"/>
    <p:sldId id="574" r:id="rId7"/>
    <p:sldId id="575" r:id="rId8"/>
    <p:sldId id="581" r:id="rId9"/>
    <p:sldId id="576" r:id="rId10"/>
    <p:sldId id="577" r:id="rId11"/>
    <p:sldId id="579" r:id="rId12"/>
    <p:sldId id="578" r:id="rId13"/>
    <p:sldId id="536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cap="all" dirty="0">
                <a:latin typeface="Aptos"/>
              </a:rPr>
              <a:t>PROJECT TITLE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2245"/>
            <a:ext cx="4128443" cy="26032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 </a:t>
            </a:r>
            <a:r>
              <a:rPr lang="en-US" sz="1600" b="1" cap="all" dirty="0" err="1"/>
              <a:t>Jahnavi.m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 </a:t>
            </a:r>
            <a:r>
              <a:rPr lang="en-US" sz="1600" b="1" cap="all" dirty="0" err="1"/>
              <a:t>Seshadripuram</a:t>
            </a:r>
            <a:r>
              <a:rPr lang="en-US" sz="1600" b="1" cap="all" dirty="0"/>
              <a:t>     academy of Business Studies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4250E-88F3-15E5-365D-4B6ECBCA7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653" y="928648"/>
            <a:ext cx="4590784" cy="49364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1EA9BC-96B9-39F5-9976-9A6D6623C452}"/>
              </a:ext>
            </a:extLst>
          </p:cNvPr>
          <p:cNvSpPr txBox="1"/>
          <p:nvPr/>
        </p:nvSpPr>
        <p:spPr>
          <a:xfrm>
            <a:off x="1548881" y="5609624"/>
            <a:ext cx="293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jahnavi3514@gmail.com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Problem Statement </a:t>
            </a:r>
            <a:r>
              <a:rPr lang="en-US" sz="220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Proposed System/Solution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System Development Approach </a:t>
            </a:r>
            <a:r>
              <a:rPr lang="en-US" sz="220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Algorithm &amp; Deployment  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Result (Output Image)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Conclusion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Future Scope</a:t>
            </a:r>
            <a:endParaRPr lang="en-US" sz="220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/>
                <a:cs typeface="Arial"/>
              </a:rPr>
              <a:t>References</a:t>
            </a:r>
            <a:endParaRPr lang="en-US" sz="2200">
              <a:latin typeface="Arial"/>
              <a:cs typeface="Arial"/>
            </a:endParaRPr>
          </a:p>
          <a:p>
            <a:endParaRPr lang="en-GB" sz="220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E4CF1F-95EB-BFC9-DC46-4B97A01F3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511" y="2376596"/>
            <a:ext cx="1103685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Hospitality businesses generate large volumes of booking and revenue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Decision-makers lack a single, consolidated view to monitor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tracking: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Occupancy utilization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Cancellations and booking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and category-wise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reporting is time-consuming and inefficient.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FC276B-E4C6-B9E8-3E60-191789525C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4154" y="2090172"/>
            <a:ext cx="105064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hotel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booking, revenue, room, and date data into a single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insights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and city-level comparisons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filtering using slicers for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31" y="1594288"/>
            <a:ext cx="10515600" cy="4251960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IN" sz="2400" b="1" dirty="0"/>
              <a:t>Approach Used:</a:t>
            </a:r>
            <a:r>
              <a:rPr lang="en-IN" sz="2400" dirty="0"/>
              <a:t> Business Intelligence &amp; Data Analytics</a:t>
            </a:r>
          </a:p>
          <a:p>
            <a:r>
              <a:rPr lang="en-IN" sz="2400" dirty="0"/>
              <a:t>Steps:</a:t>
            </a:r>
          </a:p>
          <a:p>
            <a:r>
              <a:rPr lang="en-IN" sz="2400" dirty="0"/>
              <a:t>Data Collection (CSV files)</a:t>
            </a:r>
          </a:p>
          <a:p>
            <a:r>
              <a:rPr lang="en-IN" sz="2400" dirty="0"/>
              <a:t>Data Cleaning &amp; Transformation (Power Query)</a:t>
            </a:r>
          </a:p>
          <a:p>
            <a:r>
              <a:rPr lang="en-IN" sz="2400" dirty="0"/>
              <a:t>Data </a:t>
            </a:r>
            <a:r>
              <a:rPr lang="en-IN" sz="2400" dirty="0" err="1"/>
              <a:t>Modeling</a:t>
            </a:r>
            <a:r>
              <a:rPr lang="en-IN" sz="2400" dirty="0"/>
              <a:t> (Star Schema) </a:t>
            </a:r>
          </a:p>
          <a:p>
            <a:r>
              <a:rPr lang="en-IN" sz="2400" dirty="0"/>
              <a:t>DAX Measures Creation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Dashboard Design &amp; Visualization</a:t>
            </a:r>
            <a:br>
              <a:rPr lang="en-IN" sz="2400" dirty="0"/>
            </a:b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/>
              <a:t>Tool:</a:t>
            </a:r>
            <a:r>
              <a:rPr lang="en-US" altLang="en-US" sz="2600" dirty="0"/>
              <a:t> Microsoft Power BI Desktop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/>
              <a:t>Language:</a:t>
            </a:r>
            <a:r>
              <a:rPr lang="en-US" altLang="en-US" sz="2600" dirty="0"/>
              <a:t> DAX (Data Analysis Expressions)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/>
              <a:t>Data Format:</a:t>
            </a:r>
            <a:r>
              <a:rPr lang="en-US" altLang="en-US" sz="2600" dirty="0"/>
              <a:t> CSV 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/>
              <a:t>Visualization Types:</a:t>
            </a:r>
            <a:endParaRPr lang="en-US" altLang="en-US" sz="2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KPI Cards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Line Charts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Clustered Column Charts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Donut Chart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dirty="0"/>
              <a:t>Slicers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sz="2400" dirty="0"/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90" y="1474238"/>
            <a:ext cx="11588620" cy="5113174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                           Algorithm Used (Business Logic using DAX)</a:t>
            </a:r>
          </a:p>
          <a:p>
            <a:r>
              <a:rPr lang="en-US" dirty="0"/>
              <a:t>This project does not use machine learning algorithms.</a:t>
            </a:r>
          </a:p>
          <a:p>
            <a:r>
              <a:rPr lang="en-US" dirty="0"/>
              <a:t>Business logic is implemented using </a:t>
            </a:r>
            <a:r>
              <a:rPr lang="en-US" b="1" dirty="0"/>
              <a:t>DAX measures</a:t>
            </a:r>
            <a:r>
              <a:rPr lang="en-US" dirty="0"/>
              <a:t> in Power BI.</a:t>
            </a:r>
          </a:p>
          <a:p>
            <a:r>
              <a:rPr lang="en-US" dirty="0"/>
              <a:t>DAX functions such as </a:t>
            </a:r>
            <a:r>
              <a:rPr lang="en-US" b="1" dirty="0"/>
              <a:t>SUM, COUNT, AVERAGE, CALCULATE, DIVIDE</a:t>
            </a:r>
            <a:r>
              <a:rPr lang="en-US" dirty="0"/>
              <a:t> are used.</a:t>
            </a:r>
          </a:p>
          <a:p>
            <a:r>
              <a:rPr lang="en-US" dirty="0"/>
              <a:t>These measures dynamically calculate:</a:t>
            </a:r>
          </a:p>
          <a:p>
            <a:pPr lvl="1"/>
            <a:r>
              <a:rPr lang="en-US" dirty="0"/>
              <a:t>Total Revenue</a:t>
            </a:r>
          </a:p>
          <a:p>
            <a:pPr lvl="1"/>
            <a:r>
              <a:rPr lang="en-US" dirty="0"/>
              <a:t>Total Bookings</a:t>
            </a:r>
          </a:p>
          <a:p>
            <a:pPr lvl="1"/>
            <a:r>
              <a:rPr lang="en-US" dirty="0"/>
              <a:t>Occupancy Percentage</a:t>
            </a:r>
          </a:p>
          <a:p>
            <a:pPr lvl="1"/>
            <a:r>
              <a:rPr lang="en-US" dirty="0"/>
              <a:t>Cancellation Rate</a:t>
            </a:r>
          </a:p>
          <a:p>
            <a:pPr lvl="1"/>
            <a:r>
              <a:rPr lang="en-US" dirty="0"/>
              <a:t>Average Customer Rating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Working of the Algorithm</a:t>
            </a:r>
          </a:p>
          <a:p>
            <a:r>
              <a:rPr lang="en-US" dirty="0"/>
              <a:t>Raw booking data is filtered using slicers.</a:t>
            </a:r>
          </a:p>
          <a:p>
            <a:r>
              <a:rPr lang="en-US" dirty="0"/>
              <a:t>DAX measures recalculate KPIs in real time.</a:t>
            </a:r>
          </a:p>
          <a:p>
            <a:r>
              <a:rPr lang="en-US" dirty="0"/>
              <a:t>Aggregations are performed based on city, category, room class, and date.</a:t>
            </a:r>
          </a:p>
          <a:p>
            <a:pPr marL="0" indent="0">
              <a:buNone/>
            </a:pPr>
            <a:r>
              <a:rPr lang="en-US" b="1" dirty="0"/>
              <a:t>                                  Deployment</a:t>
            </a:r>
          </a:p>
          <a:p>
            <a:r>
              <a:rPr lang="en-US" dirty="0"/>
              <a:t>The final dashboard is developed in </a:t>
            </a:r>
            <a:r>
              <a:rPr lang="en-US" b="1" dirty="0"/>
              <a:t>Power BI Desktop</a:t>
            </a:r>
            <a:r>
              <a:rPr lang="en-US" dirty="0"/>
              <a:t>.</a:t>
            </a:r>
          </a:p>
          <a:p>
            <a:r>
              <a:rPr lang="en-US" dirty="0"/>
              <a:t>Dashboard can be published to </a:t>
            </a:r>
            <a:r>
              <a:rPr lang="en-US" b="1" dirty="0"/>
              <a:t>Power BI Service</a:t>
            </a:r>
            <a:r>
              <a:rPr lang="en-US" dirty="0"/>
              <a:t>.</a:t>
            </a:r>
          </a:p>
          <a:p>
            <a:r>
              <a:rPr lang="en-US" dirty="0"/>
              <a:t>End users can access insights through interactive visuals and filters.</a:t>
            </a:r>
          </a:p>
          <a:p>
            <a:r>
              <a:rPr lang="en-US" dirty="0"/>
              <a:t>The solution is scalable and can be extended with real-time data.</a:t>
            </a:r>
          </a:p>
          <a:p>
            <a:pPr lvl="1"/>
            <a:endParaRPr lang="en-US" dirty="0"/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4CAF5D-E9A4-DFD3-5A56-E1197D6FFF3B}"/>
              </a:ext>
            </a:extLst>
          </p:cNvPr>
          <p:cNvSpPr txBox="1"/>
          <p:nvPr/>
        </p:nvSpPr>
        <p:spPr>
          <a:xfrm>
            <a:off x="93307" y="746449"/>
            <a:ext cx="9146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cap="all" dirty="0">
                <a:latin typeface="Arial"/>
                <a:cs typeface="Arial"/>
              </a:rPr>
              <a:t>DATASET OVERVIEW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7FEAD-28F5-7C1A-51E8-FE86804DC61F}"/>
              </a:ext>
            </a:extLst>
          </p:cNvPr>
          <p:cNvSpPr txBox="1"/>
          <p:nvPr/>
        </p:nvSpPr>
        <p:spPr>
          <a:xfrm>
            <a:off x="373225" y="1662014"/>
            <a:ext cx="76231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Tables Used:</a:t>
            </a:r>
            <a:endParaRPr lang="en-US" sz="1400" dirty="0"/>
          </a:p>
          <a:p>
            <a:r>
              <a:rPr lang="en-US" sz="1400" dirty="0" err="1"/>
              <a:t>dim_date</a:t>
            </a:r>
            <a:endParaRPr lang="en-US" sz="1400" dirty="0"/>
          </a:p>
          <a:p>
            <a:r>
              <a:rPr lang="en-US" sz="1400" dirty="0" err="1"/>
              <a:t>dim_hotels</a:t>
            </a:r>
            <a:endParaRPr lang="en-US" sz="1400" dirty="0"/>
          </a:p>
          <a:p>
            <a:r>
              <a:rPr lang="en-US" sz="1400" dirty="0" err="1"/>
              <a:t>dim_rooms</a:t>
            </a:r>
            <a:endParaRPr lang="en-US" sz="1400" dirty="0"/>
          </a:p>
          <a:p>
            <a:r>
              <a:rPr lang="en-US" sz="1400" dirty="0" err="1"/>
              <a:t>fact_bookings</a:t>
            </a:r>
            <a:endParaRPr lang="en-US" sz="1400" dirty="0"/>
          </a:p>
          <a:p>
            <a:r>
              <a:rPr lang="en-US" sz="1400" dirty="0" err="1"/>
              <a:t>fact_aggregated_bookings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Key Attributes:</a:t>
            </a:r>
            <a:endParaRPr lang="en-US" sz="1400" dirty="0"/>
          </a:p>
          <a:p>
            <a:r>
              <a:rPr lang="en-US" sz="1400" dirty="0"/>
              <a:t>City, Hotel Category, Room Class</a:t>
            </a:r>
          </a:p>
          <a:p>
            <a:r>
              <a:rPr lang="en-US" sz="1400" dirty="0"/>
              <a:t>Booking Status</a:t>
            </a:r>
          </a:p>
          <a:p>
            <a:r>
              <a:rPr lang="en-US" sz="1400" dirty="0"/>
              <a:t>Revenue Generated &amp; Realized</a:t>
            </a:r>
          </a:p>
          <a:p>
            <a:r>
              <a:rPr lang="en-US" sz="1400" dirty="0"/>
              <a:t>Occupancy &amp; Capacity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Key Metrics </a:t>
            </a:r>
            <a:r>
              <a:rPr lang="en-IN" sz="1400" b="1" dirty="0"/>
              <a:t>(DAX MEASURES)</a:t>
            </a:r>
            <a:br>
              <a:rPr lang="en-IN" sz="1400" b="1" dirty="0"/>
            </a:br>
            <a:r>
              <a:rPr lang="en-US" sz="1400" dirty="0"/>
              <a:t>Total Revenue</a:t>
            </a:r>
          </a:p>
          <a:p>
            <a:r>
              <a:rPr lang="en-US" sz="1400" dirty="0"/>
              <a:t>Total Bookings</a:t>
            </a:r>
          </a:p>
          <a:p>
            <a:r>
              <a:rPr lang="en-US" sz="1400" dirty="0"/>
              <a:t>Occupancy %</a:t>
            </a:r>
          </a:p>
          <a:p>
            <a:r>
              <a:rPr lang="en-US" sz="1400" dirty="0"/>
              <a:t>Cancellation Rate %</a:t>
            </a:r>
          </a:p>
          <a:p>
            <a:r>
              <a:rPr lang="en-US" sz="1400" dirty="0"/>
              <a:t>Average Rating</a:t>
            </a:r>
          </a:p>
          <a:p>
            <a:r>
              <a:rPr lang="en-US" sz="1400" dirty="0"/>
              <a:t>These measures dynamically update based on slicer selection.</a:t>
            </a:r>
          </a:p>
          <a:p>
            <a:endParaRPr lang="en-US" sz="1400" b="1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4310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9" y="1584103"/>
            <a:ext cx="4261854" cy="393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/>
              <a:t>Dashboard Highlights:</a:t>
            </a:r>
            <a:endParaRPr lang="en-US" sz="2400" dirty="0"/>
          </a:p>
          <a:p>
            <a:r>
              <a:rPr lang="en-US" sz="2400" dirty="0"/>
              <a:t>One-page executive dashboard</a:t>
            </a:r>
          </a:p>
          <a:p>
            <a:r>
              <a:rPr lang="en-US" sz="2400" dirty="0"/>
              <a:t>KPI summary at the top</a:t>
            </a:r>
          </a:p>
          <a:p>
            <a:r>
              <a:rPr lang="en-US" sz="2400" dirty="0"/>
              <a:t>Revenue and occupancy trends</a:t>
            </a:r>
          </a:p>
          <a:p>
            <a:r>
              <a:rPr lang="en-US" sz="2400" dirty="0"/>
              <a:t>City-wise and category-wise analysis</a:t>
            </a:r>
          </a:p>
          <a:p>
            <a:r>
              <a:rPr lang="en-US" sz="2400" dirty="0"/>
              <a:t>Booking status distribution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58B94-56E2-3511-DA9A-101915221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5" t="11534" r="14353" b="10701"/>
          <a:stretch>
            <a:fillRect/>
          </a:stretch>
        </p:blipFill>
        <p:spPr>
          <a:xfrm>
            <a:off x="4861249" y="998377"/>
            <a:ext cx="6992612" cy="452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FD648-945D-5D4C-56C1-A8277BFE1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2424" y="1895908"/>
            <a:ext cx="1029729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Power BI dashboard provides a clear and interactive view of hospitality performance.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stakeholders monitor revenue, occupancy, and customer behavior.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dependency on manual reports.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faster and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Add predictive analytics for demand forecasting.</a:t>
            </a:r>
          </a:p>
          <a:p>
            <a:r>
              <a:rPr lang="en-US" sz="2400" dirty="0"/>
              <a:t>Integrate real-time data sources.</a:t>
            </a:r>
          </a:p>
          <a:p>
            <a:r>
              <a:rPr lang="en-US" sz="2400" dirty="0"/>
              <a:t>Include cost and profit analysis.</a:t>
            </a:r>
          </a:p>
          <a:p>
            <a:r>
              <a:rPr lang="en-US" sz="2400" dirty="0"/>
              <a:t>Expand dashboard for multiple hotel chains or regions.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4CE26A-FA98-D8FD-F60D-E280331A0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6850" y="2522489"/>
            <a:ext cx="66238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 BI Official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DAX Reference Guide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Data Modeling and Visualization Best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Hospitality Analytics and Business Intelligence Case Studies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learning resources and tutorials related to Power BI dashboards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Link: </a:t>
            </a: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595</Words>
  <Application>Microsoft Office PowerPoint</Application>
  <PresentationFormat>Widescreen</PresentationFormat>
  <Paragraphs>114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PowerPoint Presentation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Jahnavi M</cp:lastModifiedBy>
  <cp:revision>101</cp:revision>
  <dcterms:created xsi:type="dcterms:W3CDTF">2024-05-21T11:55:07Z</dcterms:created>
  <dcterms:modified xsi:type="dcterms:W3CDTF">2026-01-20T15:25:35Z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